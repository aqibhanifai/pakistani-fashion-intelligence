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price</c:v>
                </c:pt>
              </c:strCache>
            </c:strRef>
          </c:tx>
          <c:spPr>
            <a:solidFill>
              <a:srgbClr val="76528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J.</c:v>
                </c:pt>
                <c:pt idx="1">
                  <c:v>Maria.B</c:v>
                </c:pt>
                <c:pt idx="2">
                  <c:v>Sana Safinaz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9990</c:v>
                </c:pt>
                <c:pt idx="1">
                  <c:v>23990</c:v>
                </c:pt>
                <c:pt idx="2">
                  <c:v>8999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56-4324-9227-C24C046B87A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6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</c:v>
                </c:pt>
              </c:strCache>
            </c:strRef>
          </c:tx>
          <c:spPr>
            <a:solidFill>
              <a:srgbClr val="E9A23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J.</c:v>
                </c:pt>
                <c:pt idx="1">
                  <c:v>Maria.B</c:v>
                </c:pt>
                <c:pt idx="2">
                  <c:v>Sana Safinaz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1.7</c:v>
                </c:pt>
                <c:pt idx="1">
                  <c:v>1.5</c:v>
                </c:pt>
                <c:pt idx="2">
                  <c:v>12.07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9A-4DB8-ABA3-141964DB49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71A3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67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 Sale</c:v>
                </c:pt>
              </c:strCache>
            </c:strRef>
          </c:tx>
          <c:spPr>
            <a:solidFill>
              <a:srgbClr val="E83E7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J.</c:v>
                </c:pt>
                <c:pt idx="1">
                  <c:v>Maria.B</c:v>
                </c:pt>
                <c:pt idx="2">
                  <c:v>Sana Safinaz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15</c:v>
                </c:pt>
                <c:pt idx="2">
                  <c:v>24.69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FD-42DA-9A95-696E1B3911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solidFill>
              <a:srgbClr val="4BA6A0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Unstitched</c:v>
                </c:pt>
                <c:pt idx="1">
                  <c:v>Formal</c:v>
                </c:pt>
                <c:pt idx="2">
                  <c:v>Pret</c:v>
                </c:pt>
                <c:pt idx="3">
                  <c:v>Luxury Pret</c:v>
                </c:pt>
                <c:pt idx="4">
                  <c:v>Stitched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84</c:v>
                </c:pt>
                <c:pt idx="1">
                  <c:v>63</c:v>
                </c:pt>
                <c:pt idx="2">
                  <c:v>59</c:v>
                </c:pt>
                <c:pt idx="3">
                  <c:v>50</c:v>
                </c:pt>
                <c:pt idx="4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97-4C38-A4CC-2431844FE9A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E9A23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Sana Safinaz</c:v>
                </c:pt>
                <c:pt idx="1">
                  <c:v>J.</c:v>
                </c:pt>
                <c:pt idx="2">
                  <c:v>Maria.B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81.180000000000007</c:v>
                </c:pt>
                <c:pt idx="1">
                  <c:v>65.28</c:v>
                </c:pt>
                <c:pt idx="2">
                  <c:v>45.32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F4-4110-AC7E-9C78A480E13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2802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crops/hero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65836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A23B"/>
                </a:solidFill>
              </a:rPr>
              <a:t>PAKISTANI FASHION INTELLIGENCE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1225296"/>
            <a:ext cx="5303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Fashion Brand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Competitive Price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Analytics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58368" y="3319272"/>
            <a:ext cx="1188720" cy="73152"/>
          </a:xfrm>
          <a:prstGeom prst="rect">
            <a:avLst/>
          </a:prstGeom>
          <a:solidFill>
            <a:srgbClr val="E83E78"/>
          </a:solidFill>
          <a:ln w="12700">
            <a:solidFill>
              <a:srgbClr val="E83E7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360273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DE9E4"/>
                </a:solidFill>
              </a:rPr>
              <a:t>A data-driven comparison of J., Maria.B, and Sana Safinaz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58368" y="4956048"/>
            <a:ext cx="4937760" cy="1007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DE9E4"/>
                </a:solidFill>
              </a:rPr>
              <a:t>Prepared by:  Aqib Hanif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DE9E4"/>
                </a:solidFill>
              </a:rPr>
              <a:t>Assigned by:  Mam Sumayyea Salahuddin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DE9E4"/>
                </a:solidFill>
              </a:rPr>
              <a:t>Arfa Karim Incubation Center, Peshawar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A23B"/>
                </a:solidFill>
              </a:rPr>
              <a:t>BUSINESS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 built this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960120" cy="73152"/>
          </a:xfrm>
          <a:prstGeom prst="rect">
            <a:avLst/>
          </a:prstGeom>
          <a:solidFill>
            <a:srgbClr val="E83E78"/>
          </a:solidFill>
          <a:ln w="12700">
            <a:solidFill>
              <a:srgbClr val="E83E7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9344" y="1161288"/>
            <a:ext cx="201168" cy="73152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>
                <a:alpha val="0"/>
              </a:srgbClr>
            </a:solidFill>
            <a:prstDash val="solid"/>
          </a:ln>
        </p:spPr>
      </p:sp>
      <p:pic>
        <p:nvPicPr>
          <p:cNvPr id="6" name="Image 0" descr="/mnt/data/ppt_crops/boutique_portrai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548640"/>
            <a:ext cx="3886200" cy="5394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1691640"/>
            <a:ext cx="621792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1A35"/>
                </a:solidFill>
              </a:rPr>
              <a:t>Fashion brands can sell similar categories, but their pricing, discounts, and positioning can be very different.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676656" y="3090672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4677A"/>
                </a:solidFill>
              </a:rPr>
              <a:t>I used the same method for each brand, so the comparison becomes fair and easy to explain.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85800" y="4233672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E83E78">
              <a:alpha val="93000"/>
            </a:srgbClr>
          </a:solidFill>
          <a:ln w="7620">
            <a:solidFill>
              <a:srgbClr val="E83E78">
                <a:alpha val="4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4311396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E83E78"/>
                </a:solidFill>
              </a:rPr>
              <a:t>Price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1920240" y="4233672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E9A23B">
              <a:alpha val="93000"/>
            </a:srgbClr>
          </a:solidFill>
          <a:ln w="7620">
            <a:solidFill>
              <a:srgbClr val="E9A23B">
                <a:alpha val="4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93392" y="4311396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E9A23B"/>
                </a:solidFill>
              </a:rPr>
              <a:t>Discounts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3401568" y="4233672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4BA6A0">
              <a:alpha val="93000"/>
            </a:srgbClr>
          </a:solidFill>
          <a:ln w="7620">
            <a:solidFill>
              <a:srgbClr val="4BA6A0">
                <a:alpha val="4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4720" y="4311396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4BA6A0"/>
                </a:solidFill>
              </a:rPr>
              <a:t>Categories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4965192" y="4233672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76528F">
              <a:alpha val="93000"/>
            </a:srgbClr>
          </a:solidFill>
          <a:ln w="7620">
            <a:solidFill>
              <a:srgbClr val="76528F">
                <a:alpha val="4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38344" y="4311396"/>
            <a:ext cx="1362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76528F"/>
                </a:solidFill>
              </a:rPr>
              <a:t>Positioning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594360" y="6291072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Aqib Hanif  |  Pakistani Fashion Intelligence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A23B"/>
                </a:solidFill>
              </a:rPr>
              <a:t>DATA SNAPSHOT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scope in one 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05840" cy="73152"/>
          </a:xfrm>
          <a:prstGeom prst="rect">
            <a:avLst/>
          </a:prstGeom>
          <a:solidFill>
            <a:srgbClr val="4BA6A0"/>
          </a:solidFill>
          <a:ln w="12700">
            <a:solidFill>
              <a:srgbClr val="4BA6A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55064" y="1161288"/>
            <a:ext cx="201168" cy="73152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>
                <a:alpha val="0"/>
              </a:srgbClr>
            </a:solidFill>
            <a:prstDash val="solid"/>
          </a:ln>
        </p:spPr>
      </p:sp>
      <p:pic>
        <p:nvPicPr>
          <p:cNvPr id="6" name="Image 0" descr="/mnt/data/ppt_crops/workspace_squareis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54480"/>
            <a:ext cx="3931920" cy="4206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92040" y="1627632"/>
            <a:ext cx="15087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E9E6E1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892040" y="1627632"/>
            <a:ext cx="73152" cy="960120"/>
          </a:xfrm>
          <a:prstGeom prst="rect">
            <a:avLst/>
          </a:prstGeom>
          <a:solidFill>
            <a:srgbClr val="E83E78"/>
          </a:solidFill>
          <a:ln w="12700">
            <a:solidFill>
              <a:srgbClr val="E83E78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74920" y="18288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E83E78"/>
                </a:solidFill>
              </a:rPr>
              <a:t>3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5074920" y="22311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64677A"/>
                </a:solidFill>
              </a:rPr>
              <a:t>brands analyzed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656832" y="1627632"/>
            <a:ext cx="178308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E9E6E1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56832" y="1627632"/>
            <a:ext cx="73152" cy="960120"/>
          </a:xfrm>
          <a:prstGeom prst="rect">
            <a:avLst/>
          </a:prstGeom>
          <a:solidFill>
            <a:srgbClr val="4BA6A0"/>
          </a:solidFill>
          <a:ln w="12700">
            <a:solidFill>
              <a:srgbClr val="4BA6A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39712" y="18288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4BA6A0"/>
                </a:solidFill>
              </a:rPr>
              <a:t>281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6839712" y="223113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64677A"/>
                </a:solidFill>
              </a:rPr>
              <a:t>products collected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8705088" y="1627632"/>
            <a:ext cx="178308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E9E6E1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705088" y="1627632"/>
            <a:ext cx="73152" cy="960120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87968" y="18288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E9A23B"/>
                </a:solidFill>
              </a:rPr>
              <a:t>5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8887968" y="223113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64677A"/>
                </a:solidFill>
              </a:rPr>
              <a:t>main categories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4892040" y="2889504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E9E6E1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892040" y="2889504"/>
            <a:ext cx="73152" cy="960120"/>
          </a:xfrm>
          <a:prstGeom prst="rect">
            <a:avLst/>
          </a:prstGeom>
          <a:solidFill>
            <a:srgbClr val="76528F"/>
          </a:solidFill>
          <a:ln w="12700">
            <a:solidFill>
              <a:srgbClr val="76528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74920" y="30906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76528F"/>
                </a:solidFill>
              </a:rPr>
              <a:t>PKR 12,990</a:t>
            </a:r>
            <a:endParaRPr lang="en-US" sz="2300" dirty="0"/>
          </a:p>
        </p:txBody>
      </p:sp>
      <p:sp>
        <p:nvSpPr>
          <p:cNvPr id="22" name="Text 19"/>
          <p:cNvSpPr/>
          <p:nvPr/>
        </p:nvSpPr>
        <p:spPr>
          <a:xfrm>
            <a:off x="5074920" y="34930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64677A"/>
                </a:solidFill>
              </a:rPr>
              <a:t>overall median price</a:t>
            </a:r>
            <a:endParaRPr lang="en-US" sz="980" dirty="0"/>
          </a:p>
        </p:txBody>
      </p:sp>
      <p:sp>
        <p:nvSpPr>
          <p:cNvPr id="23" name="Shape 20"/>
          <p:cNvSpPr/>
          <p:nvPr/>
        </p:nvSpPr>
        <p:spPr>
          <a:xfrm>
            <a:off x="7498080" y="2889504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E9E6E1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498080" y="2889504"/>
            <a:ext cx="73152" cy="960120"/>
          </a:xfrm>
          <a:prstGeom prst="rect">
            <a:avLst/>
          </a:prstGeom>
          <a:solidFill>
            <a:srgbClr val="79B86A"/>
          </a:solidFill>
          <a:ln w="12700">
            <a:solidFill>
              <a:srgbClr val="79B86A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80960" y="30906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79B86A"/>
                </a:solidFill>
              </a:rPr>
              <a:t>4.62%</a:t>
            </a:r>
            <a:endParaRPr lang="en-US" sz="2300" dirty="0"/>
          </a:p>
        </p:txBody>
      </p:sp>
      <p:sp>
        <p:nvSpPr>
          <p:cNvPr id="26" name="Text 23"/>
          <p:cNvSpPr/>
          <p:nvPr/>
        </p:nvSpPr>
        <p:spPr>
          <a:xfrm>
            <a:off x="7680960" y="34930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64677A"/>
                </a:solidFill>
              </a:rPr>
              <a:t>average discount</a:t>
            </a:r>
            <a:endParaRPr lang="en-US" sz="980" dirty="0"/>
          </a:p>
        </p:txBody>
      </p:sp>
      <p:sp>
        <p:nvSpPr>
          <p:cNvPr id="27" name="Shape 24"/>
          <p:cNvSpPr/>
          <p:nvPr/>
        </p:nvSpPr>
        <p:spPr>
          <a:xfrm>
            <a:off x="9738360" y="2889504"/>
            <a:ext cx="178308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E9E6E1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738360" y="2889504"/>
            <a:ext cx="73152" cy="960120"/>
          </a:xfrm>
          <a:prstGeom prst="rect">
            <a:avLst/>
          </a:prstGeom>
          <a:solidFill>
            <a:srgbClr val="E83E78"/>
          </a:solidFill>
          <a:ln w="12700">
            <a:solidFill>
              <a:srgbClr val="E83E78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921240" y="30906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E83E78"/>
                </a:solidFill>
              </a:rPr>
              <a:t>13.88%</a:t>
            </a:r>
            <a:endParaRPr lang="en-US" sz="2300" dirty="0"/>
          </a:p>
        </p:txBody>
      </p:sp>
      <p:sp>
        <p:nvSpPr>
          <p:cNvPr id="30" name="Text 27"/>
          <p:cNvSpPr/>
          <p:nvPr/>
        </p:nvSpPr>
        <p:spPr>
          <a:xfrm>
            <a:off x="9921240" y="34930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64677A"/>
                </a:solidFill>
              </a:rPr>
              <a:t>products on sale</a:t>
            </a:r>
            <a:endParaRPr lang="en-US" sz="980" dirty="0"/>
          </a:p>
        </p:txBody>
      </p:sp>
      <p:sp>
        <p:nvSpPr>
          <p:cNvPr id="31" name="Shape 28"/>
          <p:cNvSpPr/>
          <p:nvPr/>
        </p:nvSpPr>
        <p:spPr>
          <a:xfrm>
            <a:off x="4892040" y="4352544"/>
            <a:ext cx="6629400" cy="932688"/>
          </a:xfrm>
          <a:prstGeom prst="roundRect">
            <a:avLst>
              <a:gd name="adj" fmla="val 6863"/>
            </a:avLst>
          </a:prstGeom>
          <a:solidFill>
            <a:srgbClr val="FFFDF8"/>
          </a:solidFill>
          <a:ln w="8890">
            <a:solidFill>
              <a:srgbClr val="E9E6E1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102352" y="4636008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171A35"/>
                </a:solidFill>
              </a:rPr>
              <a:t>Peshawar is used for weather and regional context. I do not claim that weather directly caused the prices.</a:t>
            </a:r>
            <a:endParaRPr lang="en-US" sz="1520" dirty="0"/>
          </a:p>
        </p:txBody>
      </p:sp>
      <p:sp>
        <p:nvSpPr>
          <p:cNvPr id="33" name="Text 30"/>
          <p:cNvSpPr/>
          <p:nvPr/>
        </p:nvSpPr>
        <p:spPr>
          <a:xfrm>
            <a:off x="594360" y="6291072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Aqib Hanif  |  Pakistani Fashion Intelligence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A23B"/>
                </a:solidFill>
              </a:rPr>
              <a:t>MY PROCESS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I moved from raw data to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" cy="73152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46504" y="1161288"/>
            <a:ext cx="201168" cy="73152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>
                <a:alpha val="0"/>
              </a:srgbClr>
            </a:solidFill>
            <a:prstDash val="solid"/>
          </a:ln>
        </p:spPr>
      </p:sp>
      <p:pic>
        <p:nvPicPr>
          <p:cNvPr id="6" name="Image 0" descr="/mnt/data/ppt_crops/pipeline_wid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600200"/>
            <a:ext cx="1083564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5879592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171A35"/>
                </a:solidFill>
              </a:rPr>
              <a:t>Web scraping  →  Python cleaning  →  PostgreSQL analysis  →  Open-Meteo context  →  Excel dashboard</a:t>
            </a:r>
            <a:endParaRPr lang="en-US" sz="1620" dirty="0"/>
          </a:p>
        </p:txBody>
      </p:sp>
      <p:sp>
        <p:nvSpPr>
          <p:cNvPr id="8" name="Text 5"/>
          <p:cNvSpPr/>
          <p:nvPr/>
        </p:nvSpPr>
        <p:spPr>
          <a:xfrm>
            <a:off x="594360" y="6291072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Aqib Hanif  |  Pakistani Fashion Intelligence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A23B"/>
                </a:solidFill>
              </a:rPr>
              <a:t>DATA PREPARATION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 cleaned the data before comparing brands</a:t>
            </a:r>
            <a:endParaRPr lang="en-US" sz="30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FA25C36-78FB-2F4F-F48E-208A8D63BA78}"/>
              </a:ext>
            </a:extLst>
          </p:cNvPr>
          <p:cNvGrpSpPr/>
          <p:nvPr/>
        </p:nvGrpSpPr>
        <p:grpSpPr>
          <a:xfrm>
            <a:off x="594360" y="1293368"/>
            <a:ext cx="1261872" cy="73152"/>
            <a:chOff x="594360" y="1161288"/>
            <a:chExt cx="1261872" cy="73152"/>
          </a:xfrm>
        </p:grpSpPr>
        <p:sp>
          <p:nvSpPr>
            <p:cNvPr id="4" name="Shape 2"/>
            <p:cNvSpPr/>
            <p:nvPr/>
          </p:nvSpPr>
          <p:spPr>
            <a:xfrm>
              <a:off x="594360" y="1161288"/>
              <a:ext cx="1005840" cy="73152"/>
            </a:xfrm>
            <a:prstGeom prst="rect">
              <a:avLst/>
            </a:prstGeom>
            <a:solidFill>
              <a:srgbClr val="E83E78"/>
            </a:solidFill>
            <a:ln w="12700">
              <a:solidFill>
                <a:srgbClr val="E83E78">
                  <a:alpha val="0"/>
                </a:srgbClr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1655064" y="1161288"/>
              <a:ext cx="201168" cy="73152"/>
            </a:xfrm>
            <a:prstGeom prst="rect">
              <a:avLst/>
            </a:prstGeom>
            <a:solidFill>
              <a:srgbClr val="E9A23B"/>
            </a:solidFill>
            <a:ln w="12700">
              <a:solidFill>
                <a:srgbClr val="E9A23B">
                  <a:alpha val="0"/>
                </a:srgbClr>
              </a:solidFill>
              <a:prstDash val="solid"/>
            </a:ln>
          </p:spPr>
        </p:sp>
      </p:grpSp>
      <p:sp>
        <p:nvSpPr>
          <p:cNvPr id="6" name="Shape 4"/>
          <p:cNvSpPr/>
          <p:nvPr/>
        </p:nvSpPr>
        <p:spPr>
          <a:xfrm>
            <a:off x="667512" y="1508760"/>
            <a:ext cx="3154680" cy="4343400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8890">
            <a:solidFill>
              <a:srgbClr val="E9E6E1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8288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A35"/>
                </a:solidFill>
              </a:rPr>
              <a:t>Raw to processed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3E78"/>
                </a:solidFill>
              </a:rPr>
              <a:t>281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914400" y="318211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677A"/>
                </a:solidFill>
              </a:rPr>
              <a:t>records stayed valid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64677A"/>
                </a:solidFill>
              </a:rPr>
              <a:t>after cleaning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33856" y="4133088"/>
            <a:ext cx="2148840" cy="82296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1517904"/>
            <a:ext cx="7360920" cy="4343400"/>
          </a:xfrm>
          <a:prstGeom prst="roundRect">
            <a:avLst>
              <a:gd name="adj" fmla="val 1474"/>
            </a:avLst>
          </a:prstGeom>
          <a:solidFill>
            <a:srgbClr val="FFFDF8"/>
          </a:solidFill>
          <a:ln w="8890">
            <a:solidFill>
              <a:srgbClr val="E9E6E1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2628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1A35"/>
                </a:solidFill>
              </a:rPr>
              <a:t>Main steps I applied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53712" y="2395728"/>
            <a:ext cx="635508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lnSpc>
                <a:spcPct val="250000"/>
              </a:lnSpc>
              <a:buNone/>
            </a:pPr>
            <a:r>
              <a:rPr lang="en-US" sz="1800" dirty="0">
                <a:solidFill>
                  <a:srgbClr val="171A35"/>
                </a:solidFill>
              </a:rPr>
              <a:t>• standardized category names and text fields</a:t>
            </a:r>
            <a:endParaRPr lang="en-US" sz="180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800" dirty="0">
                <a:solidFill>
                  <a:srgbClr val="171A35"/>
                </a:solidFill>
              </a:rPr>
              <a:t>• converted prices and dates correctly</a:t>
            </a:r>
            <a:endParaRPr lang="en-US" sz="180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800" dirty="0">
                <a:solidFill>
                  <a:srgbClr val="171A35"/>
                </a:solidFill>
              </a:rPr>
              <a:t>• recalculated discounts from cleaned prices</a:t>
            </a:r>
            <a:endParaRPr lang="en-US" sz="180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800" dirty="0">
                <a:solidFill>
                  <a:srgbClr val="171A35"/>
                </a:solidFill>
              </a:rPr>
              <a:t>• created sale status, price segments, and price index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6291072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Aqib Hanif  |  Pakistani Fashion Intelligence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A23B"/>
                </a:solidFill>
              </a:rPr>
              <a:t>PRICING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Price positioning tells the first story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960120" cy="73152"/>
          </a:xfrm>
          <a:prstGeom prst="rect">
            <a:avLst/>
          </a:prstGeom>
          <a:solidFill>
            <a:srgbClr val="76528F"/>
          </a:solidFill>
          <a:ln w="12700">
            <a:solidFill>
              <a:srgbClr val="76528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9344" y="1161288"/>
            <a:ext cx="201168" cy="73152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90472"/>
            <a:ext cx="5486400" cy="425196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 w="8890">
            <a:solidFill>
              <a:srgbClr val="E9E6E1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graphicFrame>
        <p:nvGraphicFramePr>
          <p:cNvPr id="7" name="Chart 0"/>
          <p:cNvGraphicFramePr/>
          <p:nvPr/>
        </p:nvGraphicFramePr>
        <p:xfrm>
          <a:off x="914400" y="1828800"/>
          <a:ext cx="4956048" cy="3456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629400" y="1600200"/>
            <a:ext cx="4892040" cy="4023360"/>
          </a:xfrm>
          <a:prstGeom prst="roundRect">
            <a:avLst>
              <a:gd name="adj" fmla="val 1591"/>
            </a:avLst>
          </a:prstGeom>
          <a:solidFill>
            <a:srgbClr val="FFF8F1"/>
          </a:solidFill>
          <a:ln w="8890">
            <a:solidFill>
              <a:srgbClr val="E9E6E1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995160" y="1874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A23B"/>
                </a:solidFill>
              </a:rPr>
              <a:t>Main insight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995160" y="230428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1A35"/>
                </a:solidFill>
              </a:rPr>
              <a:t>Maria.B sits clearly in a premium price position.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7013448" y="3438144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64677A"/>
                </a:solidFill>
              </a:rPr>
              <a:t>J. and Sana Safinaz are closer to the affordable range in this product sample.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013448" y="4681728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76528F">
              <a:alpha val="93000"/>
            </a:srgbClr>
          </a:solidFill>
          <a:ln w="7620">
            <a:solidFill>
              <a:srgbClr val="76528F">
                <a:alpha val="4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86600" y="4759452"/>
            <a:ext cx="2185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76528F"/>
                </a:solidFill>
              </a:rPr>
              <a:t>Maria.B: PKR 23,990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9555480" y="4681728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4BA6A0">
              <a:alpha val="93000"/>
            </a:srgbClr>
          </a:solidFill>
          <a:ln w="7620">
            <a:solidFill>
              <a:srgbClr val="4BA6A0">
                <a:alpha val="4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28632" y="4759452"/>
            <a:ext cx="16824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4BA6A0"/>
                </a:solidFill>
              </a:rPr>
              <a:t>Sana: PKR 8,999</a:t>
            </a:r>
            <a:endParaRPr lang="en-US" sz="920" dirty="0"/>
          </a:p>
        </p:txBody>
      </p:sp>
      <p:sp>
        <p:nvSpPr>
          <p:cNvPr id="16" name="Text 13"/>
          <p:cNvSpPr/>
          <p:nvPr/>
        </p:nvSpPr>
        <p:spPr>
          <a:xfrm>
            <a:off x="594360" y="6291072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Aqib Hanif  |  Pakistani Fashion Intelligence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A23B"/>
                </a:solidFill>
              </a:rPr>
              <a:t>PROMOTION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Discount activity changes the picture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960120" cy="73152"/>
          </a:xfrm>
          <a:prstGeom prst="rect">
            <a:avLst/>
          </a:prstGeom>
          <a:solidFill>
            <a:srgbClr val="E83E78"/>
          </a:solidFill>
          <a:ln w="12700">
            <a:solidFill>
              <a:srgbClr val="E83E7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9344" y="1161288"/>
            <a:ext cx="201168" cy="73152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81328"/>
            <a:ext cx="5440680" cy="425196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 w="8890">
            <a:solidFill>
              <a:srgbClr val="E9E6E1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7007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1A35"/>
                </a:solidFill>
              </a:rPr>
              <a:t>Average discount %</a:t>
            </a:r>
            <a:endParaRPr lang="en-US" sz="14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914400" y="2057400"/>
          <a:ext cx="4800600" cy="3218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446520" y="1481328"/>
            <a:ext cx="5074920" cy="425196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 w="8890">
            <a:solidFill>
              <a:srgbClr val="E9E6E1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02552" y="17007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1A35"/>
                </a:solidFill>
              </a:rPr>
              <a:t>Products on sale %</a:t>
            </a:r>
            <a:endParaRPr lang="en-US" sz="140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6720840" y="2057400"/>
          <a:ext cx="4480560" cy="3218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/>
          <p:nvPr/>
        </p:nvSpPr>
        <p:spPr>
          <a:xfrm>
            <a:off x="1865376" y="58704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40" b="1" dirty="0">
                <a:solidFill>
                  <a:srgbClr val="171A35"/>
                </a:solidFill>
              </a:rPr>
              <a:t>Sana Safinaz leads both discount metrics in this snapshot.</a:t>
            </a:r>
            <a:endParaRPr lang="en-US" sz="1640" dirty="0"/>
          </a:p>
        </p:txBody>
      </p:sp>
      <p:sp>
        <p:nvSpPr>
          <p:cNvPr id="13" name="Text 9"/>
          <p:cNvSpPr/>
          <p:nvPr/>
        </p:nvSpPr>
        <p:spPr>
          <a:xfrm>
            <a:off x="594360" y="6291072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Aqib Hanif  |  Pakistani Fashion Intelligence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A23B"/>
                </a:solidFill>
              </a:rPr>
              <a:t>CATEGORY MIX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market sample is led by Unstitched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960120" cy="73152"/>
          </a:xfrm>
          <a:prstGeom prst="rect">
            <a:avLst/>
          </a:prstGeom>
          <a:solidFill>
            <a:srgbClr val="4BA6A0"/>
          </a:solidFill>
          <a:ln w="12700">
            <a:solidFill>
              <a:srgbClr val="4BA6A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9344" y="1161288"/>
            <a:ext cx="201168" cy="73152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08760"/>
            <a:ext cx="6400800" cy="4389120"/>
          </a:xfrm>
          <a:prstGeom prst="roundRect">
            <a:avLst>
              <a:gd name="adj" fmla="val 1458"/>
            </a:avLst>
          </a:prstGeom>
          <a:solidFill>
            <a:srgbClr val="FFFFFF"/>
          </a:solidFill>
          <a:ln w="8890">
            <a:solidFill>
              <a:srgbClr val="E9E6E1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graphicFrame>
        <p:nvGraphicFramePr>
          <p:cNvPr id="7" name="Chart 0"/>
          <p:cNvGraphicFramePr/>
          <p:nvPr/>
        </p:nvGraphicFramePr>
        <p:xfrm>
          <a:off x="960120" y="1828800"/>
          <a:ext cx="57150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452360" y="1600200"/>
            <a:ext cx="4023360" cy="4160520"/>
          </a:xfrm>
          <a:prstGeom prst="roundRect">
            <a:avLst>
              <a:gd name="adj" fmla="val 1591"/>
            </a:avLst>
          </a:prstGeom>
          <a:solidFill>
            <a:srgbClr val="FDF6F8"/>
          </a:solidFill>
          <a:ln w="8890">
            <a:solidFill>
              <a:srgbClr val="E9E6E1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82128" y="2057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3E78"/>
                </a:solidFill>
              </a:rPr>
              <a:t>84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7863840" y="27706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A35"/>
                </a:solidFill>
              </a:rPr>
              <a:t>Unstitched products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001000" y="345643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64677A"/>
                </a:solidFill>
              </a:rPr>
              <a:t>This category has the largest product count, so it is important for price comparison.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909560" y="4736592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76528F">
              <a:alpha val="93000"/>
            </a:srgbClr>
          </a:solidFill>
          <a:ln w="7620">
            <a:solidFill>
              <a:srgbClr val="76528F">
                <a:alpha val="4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82712" y="4814316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76528F"/>
                </a:solidFill>
              </a:rPr>
              <a:t>Formal: 63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9400032" y="4736592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E9A23B">
              <a:alpha val="93000"/>
            </a:srgbClr>
          </a:solidFill>
          <a:ln w="7620">
            <a:solidFill>
              <a:srgbClr val="E9A23B">
                <a:alpha val="4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73184" y="4814316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E9A23B"/>
                </a:solidFill>
              </a:rPr>
              <a:t>Pret: 59</a:t>
            </a:r>
            <a:endParaRPr lang="en-US" sz="920" dirty="0"/>
          </a:p>
        </p:txBody>
      </p:sp>
      <p:sp>
        <p:nvSpPr>
          <p:cNvPr id="16" name="Text 13"/>
          <p:cNvSpPr/>
          <p:nvPr/>
        </p:nvSpPr>
        <p:spPr>
          <a:xfrm>
            <a:off x="594360" y="6291072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Aqib Hanif  |  Pakistani Fashion Intelligence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A23B"/>
                </a:solidFill>
              </a:rPr>
              <a:t>BRAND INTELLIGENCE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score made the comparison easier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960120" cy="73152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9344" y="1161288"/>
            <a:ext cx="201168" cy="73152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63040"/>
            <a:ext cx="571500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8890">
            <a:solidFill>
              <a:srgbClr val="E9E6E1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graphicFrame>
        <p:nvGraphicFramePr>
          <p:cNvPr id="7" name="Chart 0"/>
          <p:cNvGraphicFramePr/>
          <p:nvPr/>
        </p:nvGraphicFramePr>
        <p:xfrm>
          <a:off x="960120" y="1828800"/>
          <a:ext cx="516636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812280" y="1627632"/>
            <a:ext cx="4343400" cy="932688"/>
          </a:xfrm>
          <a:prstGeom prst="roundRect">
            <a:avLst>
              <a:gd name="adj" fmla="val 6863"/>
            </a:avLst>
          </a:prstGeom>
          <a:solidFill>
            <a:srgbClr val="FDF8F2"/>
          </a:solidFill>
          <a:ln w="8890">
            <a:solidFill>
              <a:srgbClr val="E9E6E1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095744" y="1920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A23B"/>
                </a:solidFill>
              </a:rPr>
              <a:t>Score weights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903720" y="2834640"/>
            <a:ext cx="438912" cy="438912"/>
          </a:xfrm>
          <a:prstGeom prst="ellipse">
            <a:avLst/>
          </a:prstGeom>
          <a:solidFill>
            <a:srgbClr val="E83E78"/>
          </a:solidFill>
          <a:ln w="12700">
            <a:solidFill>
              <a:srgbClr val="E83E78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67728" y="296265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30%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16368" y="2907792"/>
            <a:ext cx="3337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A35"/>
                </a:solidFill>
              </a:rPr>
              <a:t>Price competitiveness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903720" y="3547872"/>
            <a:ext cx="438912" cy="43891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67728" y="367588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25%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7516368" y="3621024"/>
            <a:ext cx="3337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A35"/>
                </a:solidFill>
              </a:rPr>
              <a:t>Discount strategy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903720" y="4261104"/>
            <a:ext cx="438912" cy="438912"/>
          </a:xfrm>
          <a:prstGeom prst="ellipse">
            <a:avLst/>
          </a:prstGeom>
          <a:solidFill>
            <a:srgbClr val="4BA6A0"/>
          </a:solidFill>
          <a:ln w="12700">
            <a:solidFill>
              <a:srgbClr val="4BA6A0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67728" y="438912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25%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7516368" y="4334256"/>
            <a:ext cx="3337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A35"/>
                </a:solidFill>
              </a:rPr>
              <a:t>Product variety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903720" y="4974336"/>
            <a:ext cx="438912" cy="438912"/>
          </a:xfrm>
          <a:prstGeom prst="ellipse">
            <a:avLst/>
          </a:prstGeom>
          <a:solidFill>
            <a:srgbClr val="76528F"/>
          </a:solidFill>
          <a:ln w="12700">
            <a:solidFill>
              <a:srgbClr val="76528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67728" y="510235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20%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7516368" y="5047488"/>
            <a:ext cx="3337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A35"/>
                </a:solidFill>
              </a:rPr>
              <a:t>Availability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903720" y="5504688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630" b="1" dirty="0">
                <a:solidFill>
                  <a:srgbClr val="171A35"/>
                </a:solidFill>
              </a:rPr>
              <a:t>Sana Safinaz has the strongest total score in this analysis.</a:t>
            </a:r>
            <a:endParaRPr lang="en-US" sz="1630" dirty="0"/>
          </a:p>
        </p:txBody>
      </p:sp>
      <p:sp>
        <p:nvSpPr>
          <p:cNvPr id="23" name="Text 20"/>
          <p:cNvSpPr/>
          <p:nvPr/>
        </p:nvSpPr>
        <p:spPr>
          <a:xfrm>
            <a:off x="594360" y="6291072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Aqib Hanif  |  Pakistani Fashion Intelligence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A23B"/>
                </a:solidFill>
              </a:rPr>
              <a:t>DASHBOARD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final output is an interactive Excel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960120" cy="73152"/>
          </a:xfrm>
          <a:prstGeom prst="rect">
            <a:avLst/>
          </a:prstGeom>
          <a:solidFill>
            <a:srgbClr val="4BA6A0"/>
          </a:solidFill>
          <a:ln w="12700">
            <a:solidFill>
              <a:srgbClr val="4BA6A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9344" y="1161288"/>
            <a:ext cx="201168" cy="73152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353312"/>
            <a:ext cx="11018520" cy="48006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8890">
            <a:solidFill>
              <a:srgbClr val="E9E6E1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/mnt/data/ppt_crops/dashboard_wid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1554480"/>
            <a:ext cx="8229600" cy="42428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5870448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1A35"/>
                </a:solidFill>
              </a:rPr>
              <a:t>Filters, KPI cards, charts, and Peshawar weather make the story easy to present.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94360" y="6291072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Aqib Hanif  |  Pakistani Fashion Intelligence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A23B"/>
                </a:solidFill>
              </a:rPr>
              <a:t>RECOMMENDATIONS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 business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960120" cy="73152"/>
          </a:xfrm>
          <a:prstGeom prst="rect">
            <a:avLst/>
          </a:prstGeom>
          <a:solidFill>
            <a:srgbClr val="E83E78"/>
          </a:solidFill>
          <a:ln w="12700">
            <a:solidFill>
              <a:srgbClr val="E83E7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9344" y="1161288"/>
            <a:ext cx="201168" cy="73152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73352"/>
            <a:ext cx="3337560" cy="333756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8890">
            <a:solidFill>
              <a:srgbClr val="E9E6E1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73352"/>
            <a:ext cx="3337560" cy="109728"/>
          </a:xfrm>
          <a:prstGeom prst="rect">
            <a:avLst/>
          </a:prstGeom>
          <a:solidFill>
            <a:srgbClr val="4BA6A0"/>
          </a:solidFill>
          <a:ln w="12700">
            <a:solidFill>
              <a:srgbClr val="4BA6A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075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BA6A0"/>
                </a:solidFill>
              </a:rPr>
              <a:t>J.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32688" y="2743200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1A35"/>
                </a:solidFill>
              </a:rPr>
              <a:t>Protect the affordable price position. Use targeted deals on higher-priced items.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453128" y="1673352"/>
            <a:ext cx="3337560" cy="333756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8890">
            <a:solidFill>
              <a:srgbClr val="E9E6E1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53128" y="1673352"/>
            <a:ext cx="3337560" cy="109728"/>
          </a:xfrm>
          <a:prstGeom prst="rect">
            <a:avLst/>
          </a:prstGeom>
          <a:solidFill>
            <a:srgbClr val="76528F"/>
          </a:solidFill>
          <a:ln w="12700">
            <a:solidFill>
              <a:srgbClr val="76528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0016" y="2075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6528F"/>
                </a:solidFill>
              </a:rPr>
              <a:t>Maria.B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00016" y="2743200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1A35"/>
                </a:solidFill>
              </a:rPr>
              <a:t>Keep the premium image. Use selective campaigns to improve conversion.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0456" y="1673352"/>
            <a:ext cx="3337560" cy="333756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8890">
            <a:solidFill>
              <a:srgbClr val="E9E6E1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0456" y="1673352"/>
            <a:ext cx="3337560" cy="109728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67344" y="2075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9A23B"/>
                </a:solidFill>
              </a:rPr>
              <a:t>Sana Safinaz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467344" y="2743200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1A35"/>
                </a:solidFill>
              </a:rPr>
              <a:t>Continue careful discount activity because it leads the current score.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2468880" y="5440680"/>
            <a:ext cx="7315200" cy="502920"/>
          </a:xfrm>
          <a:prstGeom prst="roundRect">
            <a:avLst>
              <a:gd name="adj" fmla="val 12727"/>
            </a:avLst>
          </a:prstGeom>
          <a:solidFill>
            <a:srgbClr val="FFF8F1"/>
          </a:solidFill>
          <a:ln w="8890">
            <a:solidFill>
              <a:srgbClr val="E9E6E1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0" y="5596128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1A35"/>
                </a:solidFill>
              </a:rPr>
              <a:t>Next: repeat the scraping process regularly and add sales or customer demand data.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94360" y="6291072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Aqib Hanif  |  Pakistani Fashion Intelligence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crops/hero_dark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749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A23B"/>
                </a:solidFill>
              </a:rPr>
              <a:t>Final takeaway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13232" y="141732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good dashboard is not only about charts. It is about making the brand story clear.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777240" y="3950208"/>
            <a:ext cx="5303520" cy="1051560"/>
          </a:xfrm>
          <a:prstGeom prst="roundRect">
            <a:avLst>
              <a:gd name="adj" fmla="val 6087"/>
            </a:avLst>
          </a:prstGeom>
          <a:solidFill>
            <a:srgbClr val="071D32">
              <a:alpha val="95000"/>
            </a:srgbClr>
          </a:solidFill>
          <a:ln w="8890">
            <a:solidFill>
              <a:srgbClr val="E9A23B">
                <a:alpha val="3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51560" y="42245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A23B"/>
                </a:solidFill>
              </a:rPr>
              <a:t>What I learned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60704" y="453542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560" b="1" dirty="0">
                <a:solidFill>
                  <a:srgbClr val="FFFFFF"/>
                </a:solidFill>
              </a:rPr>
              <a:t>Real data becomes useful when it is cleaned, compared, and explained simply.</a:t>
            </a:r>
            <a:endParaRPr lang="en-US" sz="1560" dirty="0"/>
          </a:p>
        </p:txBody>
      </p:sp>
      <p:sp>
        <p:nvSpPr>
          <p:cNvPr id="8" name="Text 5"/>
          <p:cNvSpPr/>
          <p:nvPr/>
        </p:nvSpPr>
        <p:spPr>
          <a:xfrm>
            <a:off x="777240" y="5577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Thank you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9692640" y="62362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Aqib Hanif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565</Words>
  <Application>Microsoft Office PowerPoint</Application>
  <PresentationFormat>Widescreen</PresentationFormat>
  <Paragraphs>126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Arfa Karim Incubation Center, Peshawar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Pakistani Fashion Intelligence</dc:title>
  <dc:subject>Fashion Brand Competitive Price Analytics</dc:subject>
  <dc:creator>Aqib Hanif</dc:creator>
  <cp:lastModifiedBy>Aqib Hanif</cp:lastModifiedBy>
  <cp:revision>3</cp:revision>
  <dcterms:created xsi:type="dcterms:W3CDTF">2026-09-01T07:38:50Z</dcterms:created>
  <dcterms:modified xsi:type="dcterms:W3CDTF">2026-09-01T08:02:55Z</dcterms:modified>
</cp:coreProperties>
</file>